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Most</a:t>
            </a:r>
            <a:r>
              <a:rPr lang="en-US" baseline="0" dirty="0" smtClean="0"/>
              <a:t> sold car according to </a:t>
            </a:r>
            <a:r>
              <a:rPr lang="en-ZA" baseline="0" noProof="0" dirty="0" smtClean="0"/>
              <a:t>colour</a:t>
            </a:r>
            <a:endParaRPr lang="en-ZA" noProof="0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Count of SELLINGPRICE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1"/>
              <c:layout>
                <c:manualLayout>
                  <c:x val="0"/>
                  <c:y val="-5.374046318355118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Sheet1!$F$2:$F$21</c:f>
              <c:strCache>
                <c:ptCount val="20"/>
                <c:pt idx="0">
                  <c:v>—</c:v>
                </c:pt>
                <c:pt idx="1">
                  <c:v>beige</c:v>
                </c:pt>
                <c:pt idx="2">
                  <c:v>black</c:v>
                </c:pt>
                <c:pt idx="3">
                  <c:v>blue</c:v>
                </c:pt>
                <c:pt idx="4">
                  <c:v>brown</c:v>
                </c:pt>
                <c:pt idx="5">
                  <c:v>burgundy</c:v>
                </c:pt>
                <c:pt idx="6">
                  <c:v>charcoal</c:v>
                </c:pt>
                <c:pt idx="7">
                  <c:v>gold</c:v>
                </c:pt>
                <c:pt idx="8">
                  <c:v>gray</c:v>
                </c:pt>
                <c:pt idx="9">
                  <c:v>green</c:v>
                </c:pt>
                <c:pt idx="10">
                  <c:v>lime</c:v>
                </c:pt>
                <c:pt idx="11">
                  <c:v>off-white</c:v>
                </c:pt>
                <c:pt idx="12">
                  <c:v>orange</c:v>
                </c:pt>
                <c:pt idx="13">
                  <c:v>pink</c:v>
                </c:pt>
                <c:pt idx="14">
                  <c:v>purple</c:v>
                </c:pt>
                <c:pt idx="15">
                  <c:v>red</c:v>
                </c:pt>
                <c:pt idx="16">
                  <c:v>silver</c:v>
                </c:pt>
                <c:pt idx="17">
                  <c:v>turquoise</c:v>
                </c:pt>
                <c:pt idx="18">
                  <c:v>white</c:v>
                </c:pt>
                <c:pt idx="19">
                  <c:v>yellow</c:v>
                </c:pt>
              </c:strCache>
            </c:strRef>
          </c:cat>
          <c:val>
            <c:numRef>
              <c:f>Sheet1!$G$2:$G$21</c:f>
              <c:numCache>
                <c:formatCode>General</c:formatCode>
                <c:ptCount val="20"/>
                <c:pt idx="0">
                  <c:v>24685</c:v>
                </c:pt>
                <c:pt idx="1">
                  <c:v>9222</c:v>
                </c:pt>
                <c:pt idx="2">
                  <c:v>110969</c:v>
                </c:pt>
                <c:pt idx="3">
                  <c:v>51138</c:v>
                </c:pt>
                <c:pt idx="4">
                  <c:v>6717</c:v>
                </c:pt>
                <c:pt idx="5">
                  <c:v>8972</c:v>
                </c:pt>
                <c:pt idx="6">
                  <c:v>479</c:v>
                </c:pt>
                <c:pt idx="7">
                  <c:v>11342</c:v>
                </c:pt>
                <c:pt idx="8">
                  <c:v>82854</c:v>
                </c:pt>
                <c:pt idx="9">
                  <c:v>11382</c:v>
                </c:pt>
                <c:pt idx="10">
                  <c:v>15</c:v>
                </c:pt>
                <c:pt idx="11">
                  <c:v>1449</c:v>
                </c:pt>
                <c:pt idx="12">
                  <c:v>2078</c:v>
                </c:pt>
                <c:pt idx="13">
                  <c:v>42</c:v>
                </c:pt>
                <c:pt idx="14">
                  <c:v>1561</c:v>
                </c:pt>
                <c:pt idx="15">
                  <c:v>43569</c:v>
                </c:pt>
                <c:pt idx="16">
                  <c:v>83385</c:v>
                </c:pt>
                <c:pt idx="17">
                  <c:v>236</c:v>
                </c:pt>
                <c:pt idx="18">
                  <c:v>106670</c:v>
                </c:pt>
                <c:pt idx="19">
                  <c:v>1285</c:v>
                </c:pt>
              </c:numCache>
            </c:numRef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-1497053520"/>
        <c:axId val="-1497051344"/>
      </c:barChart>
      <c:catAx>
        <c:axId val="-14970535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97051344"/>
        <c:crosses val="autoZero"/>
        <c:auto val="1"/>
        <c:lblAlgn val="ctr"/>
        <c:lblOffset val="100"/>
        <c:noMultiLvlLbl val="0"/>
      </c:catAx>
      <c:valAx>
        <c:axId val="-14970513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970535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Revenue</a:t>
            </a:r>
            <a:r>
              <a:rPr lang="en-US" baseline="0" dirty="0" smtClean="0"/>
              <a:t> % by month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Sheet1!$F$1</c:f>
              <c:strCache>
                <c:ptCount val="1"/>
                <c:pt idx="0">
                  <c:v>Count of SELLINGPRICE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4"/>
            <c:bubble3D val="0"/>
            <c:spPr>
              <a:solidFill>
                <a:schemeClr val="accent5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5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6"/>
            <c:bubble3D val="0"/>
            <c:spPr>
              <a:solidFill>
                <a:schemeClr val="accent1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7"/>
            <c:bubble3D val="0"/>
            <c:spPr>
              <a:solidFill>
                <a:schemeClr val="accent2">
                  <a:lumMod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Sheet1!$E$2:$E$9</c:f>
              <c:strCache>
                <c:ptCount val="8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Dec</c:v>
                </c:pt>
              </c:strCache>
            </c:strRef>
          </c:cat>
          <c:val>
            <c:numRef>
              <c:f>Sheet1!$F$2:$F$9</c:f>
              <c:numCache>
                <c:formatCode>0.00%</c:formatCode>
                <c:ptCount val="8"/>
                <c:pt idx="0">
                  <c:v>0.25199579813134954</c:v>
                </c:pt>
                <c:pt idx="1">
                  <c:v>0.29179186075851959</c:v>
                </c:pt>
                <c:pt idx="2">
                  <c:v>8.2815108831619244E-2</c:v>
                </c:pt>
                <c:pt idx="3">
                  <c:v>2.5948507423957452E-3</c:v>
                </c:pt>
                <c:pt idx="4">
                  <c:v>9.3856646128572169E-2</c:v>
                </c:pt>
                <c:pt idx="5">
                  <c:v>0.17884248182262316</c:v>
                </c:pt>
                <c:pt idx="6">
                  <c:v>2.3264179069754955E-3</c:v>
                </c:pt>
                <c:pt idx="7">
                  <c:v>9.5776835677945024E-2</c:v>
                </c:pt>
              </c:numCache>
            </c:numRef>
          </c:val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 smtClean="0"/>
              <a:t>Difference</a:t>
            </a:r>
            <a:r>
              <a:rPr lang="en-US" baseline="0" dirty="0" smtClean="0"/>
              <a:t> between selling price and market value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Sheet1!$F$1</c:f>
              <c:strCache>
                <c:ptCount val="1"/>
                <c:pt idx="0">
                  <c:v>Sum of MMR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Sheet1!$F$2</c:f>
              <c:numCache>
                <c:formatCode>_("$"* #,##0_);_("$"* \(#,##0\);_("$"* "-"??_);_(@_)</c:formatCode>
                <c:ptCount val="1"/>
                <c:pt idx="0">
                  <c:v>7694314375</c:v>
                </c:pt>
              </c:numCache>
            </c:numRef>
          </c:val>
        </c:ser>
        <c:ser>
          <c:idx val="1"/>
          <c:order val="1"/>
          <c:tx>
            <c:strRef>
              <c:f>Sheet1!$G$1</c:f>
              <c:strCache>
                <c:ptCount val="1"/>
                <c:pt idx="0">
                  <c:v>Sum of SELLINGPRICE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val>
            <c:numRef>
              <c:f>Sheet1!$G$2</c:f>
              <c:numCache>
                <c:formatCode>_("$"* #,##0_);_("$"* \(#,##0\);_("$"* "-"??_);_(@_)</c:formatCode>
                <c:ptCount val="1"/>
                <c:pt idx="0">
                  <c:v>7606012287</c:v>
                </c:pt>
              </c:numCache>
            </c:numRef>
          </c:val>
        </c:ser>
        <c:ser>
          <c:idx val="2"/>
          <c:order val="2"/>
          <c:tx>
            <c:strRef>
              <c:f>Sheet1!$H$1</c:f>
              <c:strCache>
                <c:ptCount val="1"/>
                <c:pt idx="0">
                  <c:v>Sum of GAIN_OR_LOSS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val>
            <c:numRef>
              <c:f>Sheet1!$H$2</c:f>
              <c:numCache>
                <c:formatCode>_("$"* #,##0_);_("$"* \(#,##0\);_("$"* "-"??_);_(@_)</c:formatCode>
                <c:ptCount val="1"/>
                <c:pt idx="0">
                  <c:v>-88302088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97060592"/>
        <c:axId val="-1497052976"/>
      </c:barChart>
      <c:catAx>
        <c:axId val="-149706059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97052976"/>
        <c:crosses val="autoZero"/>
        <c:auto val="1"/>
        <c:lblAlgn val="ctr"/>
        <c:lblOffset val="100"/>
        <c:noMultiLvlLbl val="0"/>
      </c:catAx>
      <c:valAx>
        <c:axId val="-14970529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97060592"/>
        <c:crosses val="autoZero"/>
        <c:crossBetween val="between"/>
      </c:val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</c:dTable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Average of </a:t>
            </a:r>
            <a:r>
              <a:rPr lang="en-ZA" noProof="0" dirty="0" smtClean="0"/>
              <a:t>Selling price</a:t>
            </a:r>
            <a:r>
              <a:rPr lang="en-US" baseline="0" dirty="0" smtClean="0"/>
              <a:t> per state</a:t>
            </a:r>
            <a:endParaRPr lang="en-US" dirty="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Sheet1!$G$1</c:f>
              <c:strCache>
                <c:ptCount val="1"/>
                <c:pt idx="0">
                  <c:v>Average of SELLINGPRICE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Sheet1!$F$2:$F$39</c:f>
              <c:strCache>
                <c:ptCount val="38"/>
                <c:pt idx="0">
                  <c:v>ab</c:v>
                </c:pt>
                <c:pt idx="1">
                  <c:v>al</c:v>
                </c:pt>
                <c:pt idx="2">
                  <c:v>az</c:v>
                </c:pt>
                <c:pt idx="3">
                  <c:v>ca</c:v>
                </c:pt>
                <c:pt idx="4">
                  <c:v>co</c:v>
                </c:pt>
                <c:pt idx="5">
                  <c:v>fl</c:v>
                </c:pt>
                <c:pt idx="6">
                  <c:v>ga</c:v>
                </c:pt>
                <c:pt idx="7">
                  <c:v>hi</c:v>
                </c:pt>
                <c:pt idx="8">
                  <c:v>il</c:v>
                </c:pt>
                <c:pt idx="9">
                  <c:v>in</c:v>
                </c:pt>
                <c:pt idx="10">
                  <c:v>la</c:v>
                </c:pt>
                <c:pt idx="11">
                  <c:v>ma</c:v>
                </c:pt>
                <c:pt idx="12">
                  <c:v>md</c:v>
                </c:pt>
                <c:pt idx="13">
                  <c:v>mi</c:v>
                </c:pt>
                <c:pt idx="14">
                  <c:v>mn</c:v>
                </c:pt>
                <c:pt idx="15">
                  <c:v>mo</c:v>
                </c:pt>
                <c:pt idx="16">
                  <c:v>ms</c:v>
                </c:pt>
                <c:pt idx="17">
                  <c:v>nc</c:v>
                </c:pt>
                <c:pt idx="18">
                  <c:v>ne</c:v>
                </c:pt>
                <c:pt idx="19">
                  <c:v>nj</c:v>
                </c:pt>
                <c:pt idx="20">
                  <c:v>nm</c:v>
                </c:pt>
                <c:pt idx="21">
                  <c:v>ns</c:v>
                </c:pt>
                <c:pt idx="22">
                  <c:v>nv</c:v>
                </c:pt>
                <c:pt idx="23">
                  <c:v>ny</c:v>
                </c:pt>
                <c:pt idx="24">
                  <c:v>oh</c:v>
                </c:pt>
                <c:pt idx="25">
                  <c:v>ok</c:v>
                </c:pt>
                <c:pt idx="26">
                  <c:v>on</c:v>
                </c:pt>
                <c:pt idx="27">
                  <c:v>or</c:v>
                </c:pt>
                <c:pt idx="28">
                  <c:v>pa</c:v>
                </c:pt>
                <c:pt idx="29">
                  <c:v>pr</c:v>
                </c:pt>
                <c:pt idx="30">
                  <c:v>qc</c:v>
                </c:pt>
                <c:pt idx="31">
                  <c:v>sc</c:v>
                </c:pt>
                <c:pt idx="32">
                  <c:v>tn</c:v>
                </c:pt>
                <c:pt idx="33">
                  <c:v>tx</c:v>
                </c:pt>
                <c:pt idx="34">
                  <c:v>ut</c:v>
                </c:pt>
                <c:pt idx="35">
                  <c:v>va</c:v>
                </c:pt>
                <c:pt idx="36">
                  <c:v>wa</c:v>
                </c:pt>
                <c:pt idx="37">
                  <c:v>wi</c:v>
                </c:pt>
              </c:strCache>
            </c:strRef>
          </c:cat>
          <c:val>
            <c:numRef>
              <c:f>Sheet1!$G$2:$G$39</c:f>
              <c:numCache>
                <c:formatCode>"$"#,##0</c:formatCode>
                <c:ptCount val="38"/>
                <c:pt idx="0">
                  <c:v>11172.036637931034</c:v>
                </c:pt>
                <c:pt idx="1">
                  <c:v>9142.3076923076915</c:v>
                </c:pt>
                <c:pt idx="2">
                  <c:v>11545.820366132722</c:v>
                </c:pt>
                <c:pt idx="3">
                  <c:v>14505.902786132225</c:v>
                </c:pt>
                <c:pt idx="4">
                  <c:v>15877.798713826367</c:v>
                </c:pt>
                <c:pt idx="5">
                  <c:v>13877.443558984869</c:v>
                </c:pt>
                <c:pt idx="6">
                  <c:v>12918.774503597122</c:v>
                </c:pt>
                <c:pt idx="7">
                  <c:v>12190.824575586095</c:v>
                </c:pt>
                <c:pt idx="8">
                  <c:v>14792.146946077179</c:v>
                </c:pt>
                <c:pt idx="9">
                  <c:v>10715.57225433526</c:v>
                </c:pt>
                <c:pt idx="10">
                  <c:v>10521.617069831127</c:v>
                </c:pt>
                <c:pt idx="11">
                  <c:v>6726.7424580175357</c:v>
                </c:pt>
                <c:pt idx="12">
                  <c:v>7409.7539661199244</c:v>
                </c:pt>
                <c:pt idx="13">
                  <c:v>14886.217974340791</c:v>
                </c:pt>
                <c:pt idx="14">
                  <c:v>13708.186021847492</c:v>
                </c:pt>
                <c:pt idx="15">
                  <c:v>14466.192343720726</c:v>
                </c:pt>
                <c:pt idx="16">
                  <c:v>11244.13019989195</c:v>
                </c:pt>
                <c:pt idx="17">
                  <c:v>8660.9564202334623</c:v>
                </c:pt>
                <c:pt idx="18">
                  <c:v>12572.95664091702</c:v>
                </c:pt>
                <c:pt idx="19">
                  <c:v>13609.10416066801</c:v>
                </c:pt>
                <c:pt idx="20">
                  <c:v>6291.812865497076</c:v>
                </c:pt>
                <c:pt idx="21">
                  <c:v>10213.11475409836</c:v>
                </c:pt>
                <c:pt idx="22">
                  <c:v>15097.772014189988</c:v>
                </c:pt>
                <c:pt idx="23">
                  <c:v>11374.536760835234</c:v>
                </c:pt>
                <c:pt idx="24">
                  <c:v>14406.619235225957</c:v>
                </c:pt>
                <c:pt idx="25">
                  <c:v>6918.0555555555557</c:v>
                </c:pt>
                <c:pt idx="26">
                  <c:v>17812.623474723998</c:v>
                </c:pt>
                <c:pt idx="27">
                  <c:v>11558.484848484848</c:v>
                </c:pt>
                <c:pt idx="28">
                  <c:v>15976.303133173798</c:v>
                </c:pt>
                <c:pt idx="29">
                  <c:v>9410.7706422018346</c:v>
                </c:pt>
                <c:pt idx="30">
                  <c:v>13292.9718875502</c:v>
                </c:pt>
                <c:pt idx="31">
                  <c:v>10326.172194777699</c:v>
                </c:pt>
                <c:pt idx="32">
                  <c:v>17009.744340751375</c:v>
                </c:pt>
                <c:pt idx="33">
                  <c:v>13209.665258205738</c:v>
                </c:pt>
                <c:pt idx="34">
                  <c:v>12065.625816993464</c:v>
                </c:pt>
                <c:pt idx="35">
                  <c:v>8574.7376299376301</c:v>
                </c:pt>
                <c:pt idx="36">
                  <c:v>13945.389563106795</c:v>
                </c:pt>
                <c:pt idx="37">
                  <c:v>14003.529184854329</c:v>
                </c:pt>
              </c:numCache>
            </c:numRef>
          </c:val>
        </c:ser>
        <c:dLbls>
          <c:dLblPos val="outEnd"/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1497059504"/>
        <c:axId val="-1497055696"/>
      </c:barChart>
      <c:catAx>
        <c:axId val="-14970595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97055696"/>
        <c:crosses val="autoZero"/>
        <c:auto val="1"/>
        <c:lblAlgn val="ctr"/>
        <c:lblOffset val="100"/>
        <c:noMultiLvlLbl val="0"/>
      </c:catAx>
      <c:valAx>
        <c:axId val="-1497055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&quot;$&quot;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-14970595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11/16/2025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3687" y="0"/>
            <a:ext cx="8791575" cy="1629208"/>
          </a:xfrm>
        </p:spPr>
        <p:txBody>
          <a:bodyPr/>
          <a:lstStyle/>
          <a:p>
            <a:r>
              <a:rPr lang="en-US" dirty="0" smtClean="0"/>
              <a:t>Bright car analysis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536" y="1629208"/>
            <a:ext cx="5486400" cy="4104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00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Insights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19415766"/>
              </p:ext>
            </p:extLst>
          </p:nvPr>
        </p:nvGraphicFramePr>
        <p:xfrm>
          <a:off x="4727864" y="592138"/>
          <a:ext cx="7242463" cy="5199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6378" y="2249485"/>
            <a:ext cx="3856037" cy="3541714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Black, white, sliver and gray are dominating dales.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These colors usually have a broader buyer and are frequently resold.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Avoid overstocking less popular </a:t>
            </a:r>
            <a:r>
              <a:rPr lang="en-ZA" dirty="0" smtClean="0">
                <a:latin typeface="Arial" panose="020B0604020202020204" pitchFamily="34" charset="0"/>
                <a:cs typeface="Arial" panose="020B0604020202020204" pitchFamily="34" charset="0"/>
              </a:rPr>
              <a:t>colours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such as turquoise, lime and pink as they have few transactions and they take longer to sell. 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4692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8332" y="-134697"/>
            <a:ext cx="3856037" cy="1639884"/>
          </a:xfrm>
        </p:spPr>
        <p:txBody>
          <a:bodyPr/>
          <a:lstStyle/>
          <a:p>
            <a:r>
              <a:rPr lang="en-US" dirty="0" smtClean="0"/>
              <a:t>insights</a:t>
            </a:r>
            <a:endParaRPr lang="en-US" dirty="0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0001566"/>
              </p:ext>
            </p:extLst>
          </p:nvPr>
        </p:nvGraphicFramePr>
        <p:xfrm>
          <a:off x="5156200" y="592138"/>
          <a:ext cx="5891213" cy="5199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1459" y="1629877"/>
            <a:ext cx="3856037" cy="5228123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December and January show stronger revenue as they both contribute 54% of revenue.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Peaks may be influenced by seasonal buying behavior, for example, cars may be </a:t>
            </a:r>
            <a:r>
              <a:rPr lang="en-ZA" dirty="0" smtClean="0">
                <a:latin typeface="Arial" panose="020B0604020202020204" pitchFamily="34" charset="0"/>
                <a:cs typeface="Arial" panose="020B0604020202020204" pitchFamily="34" charset="0"/>
              </a:rPr>
              <a:t>perceived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as cheaper during January and most </a:t>
            </a:r>
            <a:r>
              <a:rPr lang="en-ZA" dirty="0" smtClean="0">
                <a:latin typeface="Arial" panose="020B0604020202020204" pitchFamily="34" charset="0"/>
                <a:cs typeface="Arial" panose="020B0604020202020204" pitchFamily="34" charset="0"/>
              </a:rPr>
              <a:t>people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 want to travel in December.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Low revenue months indicate a change in customer preference.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Have promotions with the months that show strong performance to increase sales.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For the low revenue months, increase marketing campaigns.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2266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720" y="405630"/>
            <a:ext cx="3856037" cy="805149"/>
          </a:xfrm>
        </p:spPr>
        <p:txBody>
          <a:bodyPr/>
          <a:lstStyle/>
          <a:p>
            <a:r>
              <a:rPr lang="en-US" dirty="0" smtClean="0"/>
              <a:t>Insights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383822"/>
              </p:ext>
            </p:extLst>
          </p:nvPr>
        </p:nvGraphicFramePr>
        <p:xfrm>
          <a:off x="5156200" y="592138"/>
          <a:ext cx="5891213" cy="5199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9277" y="1210779"/>
            <a:ext cx="3856037" cy="5470575"/>
          </a:xfrm>
        </p:spPr>
        <p:txBody>
          <a:bodyPr>
            <a:normAutofit/>
          </a:bodyPr>
          <a:lstStyle/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Positive values indicate profit above market value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Negative values indicate a loss.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As shown on the graph , Bright car makes a loss, the reasons of the loss could be being overpriced by the suppliers.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 cars may be perceived to be in a poor condition by the market 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There may be weak demand for the vehicles.</a:t>
            </a:r>
          </a:p>
          <a:p>
            <a:r>
              <a:rPr lang="en-US" sz="1800" dirty="0" smtClean="0">
                <a:latin typeface="Arial" panose="020B0604020202020204" pitchFamily="34" charset="0"/>
                <a:cs typeface="Arial" panose="020B0604020202020204" pitchFamily="34" charset="0"/>
              </a:rPr>
              <a:t>Recommendations 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Re-evaluate the buying strategy for models that frequently shows losses.</a:t>
            </a:r>
          </a:p>
          <a:p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For negotiating purchase prices, use the MMR as the benchmark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Strengthen sourcing cars on profitable segments.</a:t>
            </a:r>
          </a:p>
        </p:txBody>
      </p:sp>
    </p:spTree>
    <p:extLst>
      <p:ext uri="{BB962C8B-B14F-4D97-AF65-F5344CB8AC3E}">
        <p14:creationId xmlns:p14="http://schemas.microsoft.com/office/powerpoint/2010/main" val="2939202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4" y="592666"/>
            <a:ext cx="3856037" cy="1044140"/>
          </a:xfrm>
        </p:spPr>
        <p:txBody>
          <a:bodyPr/>
          <a:lstStyle/>
          <a:p>
            <a:r>
              <a:rPr lang="en-US" dirty="0" smtClean="0"/>
              <a:t>Insights 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1636806"/>
            <a:ext cx="3856037" cy="4154394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According to the graph, the years with the most sales is 2012,2013 and 2014.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customers prefer the latest models compared to the oldest model as shown in the graph,1989 to 1994’s transactions range from 20-400.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Recommendations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Refurbish the cars from 1989 to 1994 to appeal to the customers.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Run promotions on the cars that are frequently sold 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1" name="Content Placeholder 20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156200" y="841663"/>
            <a:ext cx="5891213" cy="482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85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933" y="363680"/>
            <a:ext cx="3856037" cy="836321"/>
          </a:xfrm>
        </p:spPr>
        <p:txBody>
          <a:bodyPr/>
          <a:lstStyle/>
          <a:p>
            <a:r>
              <a:rPr lang="en-US" dirty="0" smtClean="0"/>
              <a:t>Insights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3072463"/>
              </p:ext>
            </p:extLst>
          </p:nvPr>
        </p:nvGraphicFramePr>
        <p:xfrm>
          <a:off x="5156200" y="592138"/>
          <a:ext cx="6824518" cy="5199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6933" y="1200001"/>
            <a:ext cx="3856037" cy="5657999"/>
          </a:xfrm>
        </p:spPr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average selling price shows the difference from one state to another. 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states that achieve higher selling prices may reflect high demand, high vehicle quality.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Lower average selling prices may reflect market saturation, there may be higher supply than demand.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states may have price sensitive buyers.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Recommendations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Offer promotions that have low performing sates in order to increase demand.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Distribute mid and lower value vehicles to sates with price sensitive markets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1933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47109" y="1558636"/>
            <a:ext cx="6141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4318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121</TotalTime>
  <Words>393</Words>
  <Application>Microsoft Office PowerPoint</Application>
  <PresentationFormat>Widescreen</PresentationFormat>
  <Paragraphs>43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Trebuchet MS</vt:lpstr>
      <vt:lpstr>Tw Cen MT</vt:lpstr>
      <vt:lpstr>Circuit</vt:lpstr>
      <vt:lpstr>Bright car analysis</vt:lpstr>
      <vt:lpstr>Insights</vt:lpstr>
      <vt:lpstr>insights</vt:lpstr>
      <vt:lpstr>Insights</vt:lpstr>
      <vt:lpstr>Insights </vt:lpstr>
      <vt:lpstr>Insights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Bright car analysis</dc:title>
  <dc:creator>Nothando</dc:creator>
  <cp:lastModifiedBy>Nothando</cp:lastModifiedBy>
  <cp:revision>16</cp:revision>
  <dcterms:created xsi:type="dcterms:W3CDTF">2025-11-17T02:41:10Z</dcterms:created>
  <dcterms:modified xsi:type="dcterms:W3CDTF">2025-11-17T06:39:15Z</dcterms:modified>
</cp:coreProperties>
</file>